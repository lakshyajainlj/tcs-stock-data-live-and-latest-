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5" r:id="rId2"/>
    <p:sldId id="286" r:id="rId3"/>
    <p:sldId id="276" r:id="rId4"/>
    <p:sldId id="270" r:id="rId5"/>
    <p:sldId id="277" r:id="rId6"/>
    <p:sldId id="278" r:id="rId7"/>
    <p:sldId id="279" r:id="rId8"/>
    <p:sldId id="283" r:id="rId9"/>
    <p:sldId id="284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  <a:srgbClr val="FF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658" autoAdjust="0"/>
    <p:restoredTop sz="94660"/>
  </p:normalViewPr>
  <p:slideViewPr>
    <p:cSldViewPr>
      <p:cViewPr varScale="1">
        <p:scale>
          <a:sx n="66" d="100"/>
          <a:sy n="66" d="100"/>
        </p:scale>
        <p:origin x="-96" y="-4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pPr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92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seindia.com/" TargetMode="External"/><Relationship Id="rId3" Type="http://schemas.openxmlformats.org/officeDocument/2006/relationships/hyperlink" Target="https://www.python.org/doc/" TargetMode="External"/><Relationship Id="rId7" Type="http://schemas.openxmlformats.org/officeDocument/2006/relationships/hyperlink" Target="https://finance.yahoo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" TargetMode="External"/><Relationship Id="rId5" Type="http://schemas.openxmlformats.org/officeDocument/2006/relationships/hyperlink" Target="https://numpy.org/doc/" TargetMode="External"/><Relationship Id="rId4" Type="http://schemas.openxmlformats.org/officeDocument/2006/relationships/hyperlink" Target="file:///C:\Users\MUDIT\Desktop\%20https:\pandas.pydata.org\docs\" TargetMode="External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dirty="0"/>
              <a:t>TCS Stock Data – Live and Latest</a:t>
            </a:r>
            <a:r>
              <a:rPr lang="en-US" sz="2000" dirty="0">
                <a:ea typeface="Droid Sans Fallback"/>
                <a:cs typeface="Times New Roman" pitchFamily="18" charset="0"/>
              </a:rPr>
              <a:t/>
            </a:r>
            <a:br>
              <a:rPr lang="en-US" sz="2000" dirty="0">
                <a:ea typeface="Droid Sans Fallback"/>
                <a:cs typeface="Times New Roman" pitchFamily="18" charset="0"/>
              </a:rPr>
            </a:br>
            <a:r>
              <a:rPr lang="en-US" sz="2400" dirty="0">
                <a:ea typeface="Droid Sans Fallback"/>
                <a:cs typeface="Times New Roman" pitchFamily="18" charset="0"/>
              </a:rPr>
              <a:t>Project Synopsis Presentation </a:t>
            </a:r>
            <a:br>
              <a:rPr lang="en-US" sz="2400" dirty="0">
                <a:ea typeface="Droid Sans Fallback"/>
                <a:cs typeface="Times New Roman" pitchFamily="18" charset="0"/>
              </a:rPr>
            </a:br>
            <a:r>
              <a:rPr lang="en-US" sz="2000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Date: </a:t>
            </a: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10</a:t>
            </a:r>
            <a:r>
              <a:rPr lang="en-US" sz="2000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/12/2025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123728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61224" y="5733256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FACULTY OF ENGINEERING &amp; COMPUTING SCIENCES</a:t>
            </a:r>
            <a:endParaRPr lang="en-US" sz="700" dirty="0"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TEERTHANKER MAHAVEER UNIVERSITY, MORADABAD</a:t>
            </a:r>
            <a:endParaRPr lang="en-US" b="1" dirty="0"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01" y="4503461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772812" y="2963381"/>
            <a:ext cx="39372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</a:rPr>
              <a:t>SUBMITTED BY</a:t>
            </a:r>
            <a:r>
              <a:rPr lang="en-US" b="1" dirty="0" smtClean="0">
                <a:solidFill>
                  <a:srgbClr val="0033CC"/>
                </a:solidFill>
              </a:rPr>
              <a:t>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LAKSHYA JAIN (TCA2309120)</a:t>
            </a:r>
            <a:endParaRPr lang="en-US" b="1" dirty="0">
              <a:solidFill>
                <a:srgbClr val="0033CC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733" y="3198719"/>
            <a:ext cx="3740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Project Guide</a:t>
            </a:r>
            <a:r>
              <a:rPr lang="en-US" b="1" dirty="0" smtClean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  DR</a:t>
            </a:r>
            <a:r>
              <a:rPr lang="en-US" b="1" dirty="0" smtClean="0"/>
              <a:t>. NAMIT GUPAT</a:t>
            </a:r>
            <a:endParaRPr lang="en-US" b="1" dirty="0">
              <a:solidFill>
                <a:srgbClr val="0033CC"/>
              </a:solidFill>
              <a:latin typeface="Calibri" pitchFamily="34" charset="0"/>
              <a:ea typeface="Droid Sans Fallback"/>
              <a:cs typeface="Times New Roman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59" y="1863247"/>
            <a:ext cx="8041741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                                             INDUSTRIAL </a:t>
            </a:r>
            <a:r>
              <a:rPr lang="en-US" dirty="0" smtClean="0"/>
              <a:t>TRAINING (ECS591)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Calibri" pitchFamily="34" charset="0"/>
                <a:ea typeface="Droid Sans Fallback"/>
                <a:cs typeface="Times New Roman" pitchFamily="18" charset="0"/>
              </a:rPr>
              <a:t>Degree </a:t>
            </a: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: </a:t>
            </a:r>
            <a:r>
              <a:rPr lang="en-US" sz="2000" b="1" dirty="0" smtClean="0">
                <a:solidFill>
                  <a:srgbClr val="FF0000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B.TECH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4428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Team Details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259828520"/>
              </p:ext>
            </p:extLst>
          </p:nvPr>
        </p:nvGraphicFramePr>
        <p:xfrm>
          <a:off x="386882" y="1372628"/>
          <a:ext cx="8361582" cy="1696333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5877119">
                  <a:extLst>
                    <a:ext uri="{9D8B030D-6E8A-4147-A177-3AD203B41FA5}">
                      <a16:colId xmlns="" xmlns:a16="http://schemas.microsoft.com/office/drawing/2014/main" val="3341467042"/>
                    </a:ext>
                  </a:extLst>
                </a:gridCol>
                <a:gridCol w="2484463">
                  <a:extLst>
                    <a:ext uri="{9D8B030D-6E8A-4147-A177-3AD203B41FA5}">
                      <a16:colId xmlns="" xmlns:a16="http://schemas.microsoft.com/office/drawing/2014/main" val="4186870229"/>
                    </a:ext>
                  </a:extLst>
                </a:gridCol>
              </a:tblGrid>
              <a:tr h="462664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Student Name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76531479"/>
                  </a:ext>
                </a:extLst>
              </a:tr>
              <a:tr h="4112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LAKSHYA JAIN (TCA2309120)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IN" sz="1800" dirty="0" smtClean="0">
                          <a:effectLst/>
                          <a:latin typeface="Calibri" panose="020F0502020204030204" pitchFamily="34" charset="0"/>
                          <a:ea typeface="Droid Sans Fallback"/>
                        </a:rPr>
                        <a:t> PYTHON</a:t>
                      </a:r>
                      <a:r>
                        <a:rPr lang="en-IN" sz="1800" baseline="0" dirty="0" smtClean="0">
                          <a:effectLst/>
                          <a:latin typeface="Calibri" panose="020F0502020204030204" pitchFamily="34" charset="0"/>
                          <a:ea typeface="Droid Sans Fallback"/>
                        </a:rPr>
                        <a:t> DEVEPOLER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95163912"/>
                  </a:ext>
                </a:extLst>
              </a:tr>
              <a:tr h="4112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000564458"/>
                  </a:ext>
                </a:extLst>
              </a:tr>
              <a:tr h="4112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984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3471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74440"/>
            <a:ext cx="9144000" cy="5250904"/>
          </a:xfrm>
        </p:spPr>
        <p:txBody>
          <a:bodyPr>
            <a:normAutofit/>
          </a:bodyPr>
          <a:lstStyle/>
          <a:p>
            <a:r>
              <a:rPr lang="en-US" dirty="0"/>
              <a:t>Stock market prediction has always been a challenging yet highly relevant domain in data analytics. </a:t>
            </a:r>
          </a:p>
          <a:p>
            <a:r>
              <a:rPr lang="en-US" dirty="0"/>
              <a:t>Investors, traders, and financial institutions constantly seek methods to understand price fluctuations and anticipate future trends.</a:t>
            </a:r>
          </a:p>
          <a:p>
            <a:r>
              <a:rPr lang="en-US" dirty="0"/>
              <a:t> This project applies </a:t>
            </a:r>
            <a:r>
              <a:rPr lang="en-US" b="1" dirty="0"/>
              <a:t>Python-based data analysis and machine learning techniques</a:t>
            </a:r>
            <a:r>
              <a:rPr lang="en-US" dirty="0"/>
              <a:t> to analyze and predict the stock prices of </a:t>
            </a:r>
            <a:r>
              <a:rPr lang="en-US" b="1" dirty="0"/>
              <a:t>Tata Consultancy Services (TCS)</a:t>
            </a:r>
            <a:r>
              <a:rPr lang="en-US" dirty="0"/>
              <a:t>—one of India’s leading IT companies and a key player in the global technology market.</a:t>
            </a:r>
          </a:p>
          <a:p>
            <a:r>
              <a:rPr lang="en-US" dirty="0"/>
              <a:t>The project covers the </a:t>
            </a:r>
            <a:r>
              <a:rPr lang="en-US" b="1" dirty="0"/>
              <a:t>end-to-end data analytics workflow</a:t>
            </a:r>
            <a:r>
              <a:rPr lang="en-US" dirty="0"/>
              <a:t>: data preprocessing, exploratory data analysis (EDA), feature engineering, predictive modeling, and model evaluation. </a:t>
            </a: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959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02432"/>
            <a:ext cx="9144000" cy="525090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Since this project is primarily </a:t>
            </a:r>
            <a:r>
              <a:rPr lang="en-US" b="1" dirty="0"/>
              <a:t>data analysis and prediction in Python</a:t>
            </a:r>
            <a:r>
              <a:rPr lang="en-US" dirty="0"/>
              <a:t>, it does not use a traditional web-based front-end.</a:t>
            </a:r>
          </a:p>
          <a:p>
            <a:pPr lvl="0"/>
            <a:r>
              <a:rPr lang="en-US" dirty="0"/>
              <a:t>However, visualization of results is performed using </a:t>
            </a:r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libraries.</a:t>
            </a:r>
          </a:p>
          <a:p>
            <a:pPr lvl="0"/>
            <a:r>
              <a:rPr lang="en-US" dirty="0"/>
              <a:t>For interactive exploration, </a:t>
            </a:r>
            <a:r>
              <a:rPr lang="en-US" b="1" dirty="0"/>
              <a:t>Jupyter Notebook</a:t>
            </a:r>
            <a:r>
              <a:rPr lang="en-US" dirty="0"/>
              <a:t> serves as the user interface where graphs, outputs, and code are displayed together.</a:t>
            </a:r>
          </a:p>
          <a:p>
            <a:pPr lvl="0"/>
            <a:r>
              <a:rPr lang="en-US" dirty="0"/>
              <a:t>Major Python libraries include:</a:t>
            </a:r>
            <a:endParaRPr lang="en-US" sz="2000" dirty="0"/>
          </a:p>
          <a:p>
            <a:pPr lvl="1"/>
            <a:r>
              <a:rPr lang="en-US" dirty="0"/>
              <a:t>Pandas → Data manipulation and preprocessing.</a:t>
            </a:r>
            <a:endParaRPr lang="en-US" sz="1800" dirty="0"/>
          </a:p>
          <a:p>
            <a:pPr lvl="1"/>
            <a:r>
              <a:rPr lang="en-US" dirty="0"/>
              <a:t>NumPy → Numerical operations and mathematical computations.</a:t>
            </a:r>
            <a:endParaRPr lang="en-US" sz="1800" dirty="0"/>
          </a:p>
          <a:p>
            <a:pPr lvl="1"/>
            <a:r>
              <a:rPr lang="en-US" dirty="0"/>
              <a:t>Matplotlib &amp; Seaborn → Data visualization.</a:t>
            </a:r>
            <a:endParaRPr lang="en-US" sz="1800" dirty="0"/>
          </a:p>
          <a:p>
            <a:pPr lvl="1"/>
            <a:r>
              <a:rPr lang="en-US" dirty="0"/>
              <a:t>Scikit-learn → Model building, training, and evaluation.</a:t>
            </a:r>
            <a:endParaRPr lang="en-US" sz="1800" dirty="0"/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Methodologies/ Technologies/ Tools to be used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379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project workflow can be broken down into the following sequential 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 Acquisition</a:t>
            </a:r>
            <a:r>
              <a:rPr lang="en-US" dirty="0"/>
              <a:t> – Importing historical TCS stock price dataset into the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 Preprocessing</a:t>
            </a:r>
            <a:r>
              <a:rPr lang="en-US" dirty="0"/>
              <a:t> – Cleaning, handling missing values, and removing outliers.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Exploratory Data Analysis (EDA)</a:t>
            </a:r>
            <a:r>
              <a:rPr lang="en-US" dirty="0"/>
              <a:t> – Identifying trends, patterns, and market behavior.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Feature Engineering</a:t>
            </a:r>
            <a:r>
              <a:rPr lang="en-US" dirty="0"/>
              <a:t> – Creating additional variables such as lag values and time-based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Model Building</a:t>
            </a:r>
            <a:r>
              <a:rPr lang="en-US" dirty="0"/>
              <a:t> – Training a Linear Regression model to predict closing stock prices.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Model Evaluation</a:t>
            </a:r>
            <a:r>
              <a:rPr lang="en-US" dirty="0"/>
              <a:t> – Comparing actual vs. predicted values using visualizations and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Future Enhancements</a:t>
            </a:r>
            <a:r>
              <a:rPr lang="en-US" dirty="0"/>
              <a:t> – Suggesting advanced ML and time-series models for higher accuracy.</a:t>
            </a: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Context Diagram (Overall Project)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299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Entity Relationship Diagram (ERD)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="" xmlns:a16="http://schemas.microsoft.com/office/drawing/2014/main" id="{E4F07271-5454-B9E6-1121-59315F3A1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34" y="908720"/>
            <a:ext cx="7650906" cy="5100604"/>
          </a:xfrm>
        </p:spPr>
      </p:pic>
    </p:spTree>
    <p:extLst>
      <p:ext uri="{BB962C8B-B14F-4D97-AF65-F5344CB8AC3E}">
        <p14:creationId xmlns="" xmlns:p14="http://schemas.microsoft.com/office/powerpoint/2010/main" val="342991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65B63DC2-E106-A90F-44B4-0D955C60E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192" t="30541" r="1192" b="31065"/>
          <a:stretch>
            <a:fillRect/>
          </a:stretch>
        </p:blipFill>
        <p:spPr>
          <a:xfrm>
            <a:off x="-108520" y="677892"/>
            <a:ext cx="9252519" cy="5688875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2991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\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18538" y="923278"/>
            <a:ext cx="9144000" cy="525090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Practical Application of Python in Data Analytics</a:t>
            </a:r>
            <a:endParaRPr lang="en-US" sz="2000" dirty="0"/>
          </a:p>
          <a:p>
            <a:pPr lvl="1"/>
            <a:r>
              <a:rPr lang="en-US" dirty="0"/>
              <a:t>Demonstrates how Python libraries like Pandas, NumPy, Matplotlib, Seaborn, and Scikit-learn can be used effectively in real-world financial data analysis.</a:t>
            </a:r>
            <a:endParaRPr lang="en-US" sz="1800" dirty="0"/>
          </a:p>
          <a:p>
            <a:pPr lvl="0"/>
            <a:r>
              <a:rPr lang="en-US" b="1" dirty="0"/>
              <a:t>Comprehensive Data Pipeline</a:t>
            </a:r>
            <a:endParaRPr lang="en-US" sz="2000" dirty="0"/>
          </a:p>
          <a:p>
            <a:pPr lvl="1"/>
            <a:r>
              <a:rPr lang="en-US" dirty="0"/>
              <a:t>Covers the entire workflow from </a:t>
            </a:r>
            <a:r>
              <a:rPr lang="en-US" b="1" dirty="0"/>
              <a:t>data preprocessing to prediction</a:t>
            </a:r>
            <a:r>
              <a:rPr lang="en-US" dirty="0"/>
              <a:t>, providing hands-on experience in cleaning, analyzing, and modeling stock market data.</a:t>
            </a:r>
            <a:endParaRPr lang="en-US" sz="1800" dirty="0"/>
          </a:p>
          <a:p>
            <a:pPr lvl="0"/>
            <a:r>
              <a:rPr lang="en-US" b="1" dirty="0"/>
              <a:t>Financial Market Insights</a:t>
            </a:r>
            <a:endParaRPr lang="en-US" sz="2000" dirty="0"/>
          </a:p>
          <a:p>
            <a:pPr lvl="1"/>
            <a:r>
              <a:rPr lang="en-US" dirty="0"/>
              <a:t>Provides meaningful insights into stock price behavior, volume trends, and moving averages, helping investors and analysts understand market dynamics.</a:t>
            </a:r>
            <a:endParaRPr lang="en-US" sz="1800" dirty="0"/>
          </a:p>
          <a:p>
            <a:pPr lvl="0"/>
            <a:r>
              <a:rPr lang="en-US" b="1" dirty="0"/>
              <a:t>Predictive Capability</a:t>
            </a:r>
            <a:endParaRPr lang="en-US" sz="2000" dirty="0"/>
          </a:p>
          <a:p>
            <a:pPr lvl="1"/>
            <a:r>
              <a:rPr lang="en-US" dirty="0"/>
              <a:t>Uses machine learning (Linear Regression) to predict stock closing prices, offering a foundation for more advanced forecasting techniques.</a:t>
            </a:r>
            <a:endParaRPr lang="en-US" sz="1800" dirty="0"/>
          </a:p>
          <a:p>
            <a:pPr lvl="0"/>
            <a:r>
              <a:rPr lang="en-US" b="1" dirty="0"/>
              <a:t>Feature Engineering for Better Models</a:t>
            </a:r>
            <a:endParaRPr lang="en-US" sz="2000" dirty="0"/>
          </a:p>
          <a:p>
            <a:pPr lvl="1"/>
            <a:r>
              <a:rPr lang="en-US" dirty="0"/>
              <a:t>Enhances dataset quality by extracting features such as lag values, rolling averages, and time-based variables, improving model interpretability and accuracy.</a:t>
            </a:r>
            <a:endParaRPr lang="en-US" sz="1800" dirty="0"/>
          </a:p>
          <a:p>
            <a:pPr lvl="0"/>
            <a:r>
              <a:rPr lang="en-US" b="1" dirty="0"/>
              <a:t>Visualization of Complex Data</a:t>
            </a:r>
            <a:endParaRPr lang="en-US" sz="2000" dirty="0"/>
          </a:p>
          <a:p>
            <a:pPr lvl="1"/>
            <a:r>
              <a:rPr lang="en-US" dirty="0"/>
              <a:t>Converts raw numerical stock data into </a:t>
            </a:r>
            <a:r>
              <a:rPr lang="en-US" b="1" dirty="0"/>
              <a:t>easy-to-understand charts and plots</a:t>
            </a:r>
            <a:endParaRPr lang="en-US" sz="1800" dirty="0"/>
          </a:p>
          <a:p>
            <a:pPr lvl="0"/>
            <a:r>
              <a:rPr lang="en-US" b="1" dirty="0"/>
              <a:t>Extendable Framework</a:t>
            </a:r>
            <a:endParaRPr lang="en-US" sz="2000" dirty="0"/>
          </a:p>
          <a:p>
            <a:pPr lvl="1"/>
            <a:r>
              <a:rPr lang="en-US" dirty="0"/>
              <a:t>Provides a baseline that can be extended with </a:t>
            </a:r>
            <a:r>
              <a:rPr lang="en-US" b="1" dirty="0"/>
              <a:t>advanced algorithms</a:t>
            </a:r>
            <a:r>
              <a:rPr lang="en-US" dirty="0"/>
              <a:t> like Random Forest, </a:t>
            </a:r>
            <a:r>
              <a:rPr lang="en-US" dirty="0" err="1"/>
              <a:t>XGBoost</a:t>
            </a:r>
            <a:endParaRPr lang="en-US" sz="1800" dirty="0"/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Advantage of The Project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564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Python Software Foundation. </a:t>
            </a:r>
            <a:r>
              <a:rPr lang="en-US" i="1" dirty="0"/>
              <a:t>Python Documentation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https://www.python.org/doc/</a:t>
            </a:r>
            <a:endParaRPr lang="en-US" dirty="0"/>
          </a:p>
          <a:p>
            <a:pPr lvl="0"/>
            <a:r>
              <a:rPr lang="en-US" dirty="0"/>
              <a:t>Pandas Development Team. </a:t>
            </a:r>
            <a:r>
              <a:rPr lang="en-US" i="1" dirty="0"/>
              <a:t>Pandas Documentation</a:t>
            </a:r>
            <a:r>
              <a:rPr lang="en-US" dirty="0"/>
              <a:t>.</a:t>
            </a:r>
            <a:r>
              <a:rPr lang="en-US" u="sng" dirty="0">
                <a:hlinkClick r:id="rId4"/>
              </a:rPr>
              <a:t> https://pandas.pydata.org/docs/</a:t>
            </a:r>
            <a:endParaRPr lang="en-US" dirty="0"/>
          </a:p>
          <a:p>
            <a:pPr lvl="0"/>
            <a:r>
              <a:rPr lang="en-US" dirty="0"/>
              <a:t>NumPy Developers. </a:t>
            </a:r>
            <a:r>
              <a:rPr lang="en-US" i="1" dirty="0"/>
              <a:t>NumPy Documentation</a:t>
            </a:r>
            <a:r>
              <a:rPr lang="en-US" dirty="0"/>
              <a:t>. </a:t>
            </a:r>
            <a:r>
              <a:rPr lang="en-US" u="sng" dirty="0">
                <a:hlinkClick r:id="rId5"/>
              </a:rPr>
              <a:t>https://numpy.org/doc/</a:t>
            </a:r>
            <a:endParaRPr lang="en-US" dirty="0"/>
          </a:p>
          <a:p>
            <a:pPr lvl="0"/>
            <a:r>
              <a:rPr lang="en-US" dirty="0"/>
              <a:t>Scikit-learn Developers. </a:t>
            </a:r>
            <a:r>
              <a:rPr lang="en-US" i="1" dirty="0"/>
              <a:t>Scikit-learn Documentation</a:t>
            </a:r>
            <a:r>
              <a:rPr lang="en-US" dirty="0"/>
              <a:t>. </a:t>
            </a:r>
            <a:r>
              <a:rPr lang="en-US" u="sng" dirty="0">
                <a:hlinkClick r:id="rId6"/>
              </a:rPr>
              <a:t>https://scikit-learn.org/stable/</a:t>
            </a:r>
            <a:endParaRPr lang="en-US" dirty="0"/>
          </a:p>
          <a:p>
            <a:pPr lvl="0"/>
            <a:r>
              <a:rPr lang="en-US" dirty="0"/>
              <a:t>Yahoo Finance. </a:t>
            </a:r>
            <a:r>
              <a:rPr lang="en-US" i="1" dirty="0"/>
              <a:t>Tata Consultancy Services Ltd. Stock Data</a:t>
            </a:r>
            <a:r>
              <a:rPr lang="en-US" dirty="0"/>
              <a:t>. </a:t>
            </a:r>
            <a:r>
              <a:rPr lang="en-US" u="sng" dirty="0">
                <a:hlinkClick r:id="rId7"/>
              </a:rPr>
              <a:t>https://finance.yahoo.com/</a:t>
            </a:r>
            <a:endParaRPr lang="en-US" dirty="0"/>
          </a:p>
          <a:p>
            <a:r>
              <a:rPr lang="en-US" dirty="0"/>
              <a:t>NSE India. </a:t>
            </a:r>
            <a:r>
              <a:rPr lang="en-US" i="1" dirty="0"/>
              <a:t>Market Data</a:t>
            </a:r>
            <a:r>
              <a:rPr lang="en-US" dirty="0"/>
              <a:t>. </a:t>
            </a:r>
            <a:r>
              <a:rPr lang="en-US" u="sng" dirty="0">
                <a:hlinkClick r:id="rId8"/>
              </a:rPr>
              <a:t>https://www.nseindia.com/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References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8564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THANKS</a:t>
            </a:r>
          </a:p>
        </p:txBody>
      </p:sp>
    </p:spTree>
    <p:extLst>
      <p:ext uri="{BB962C8B-B14F-4D97-AF65-F5344CB8AC3E}">
        <p14:creationId xmlns="" xmlns:p14="http://schemas.microsoft.com/office/powerpoint/2010/main" val="404071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2755</TotalTime>
  <Words>658</Words>
  <Application>Microsoft Office PowerPoint</Application>
  <PresentationFormat>On-screen Show (4:3)</PresentationFormat>
  <Paragraphs>92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TCS Stock Data – Live and Latest Project Synopsis Presentation  Date: 10/12/2025</vt:lpstr>
      <vt:lpstr>Slide 2</vt:lpstr>
      <vt:lpstr>Slide 3</vt:lpstr>
      <vt:lpstr>Slide 4</vt:lpstr>
      <vt:lpstr>Slide 5</vt:lpstr>
      <vt:lpstr>Slide 6</vt:lpstr>
      <vt:lpstr>Slide 7</vt:lpstr>
      <vt:lpstr>\</vt:lpstr>
      <vt:lpstr>Slide 9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lakshya jain</cp:lastModifiedBy>
  <cp:revision>106</cp:revision>
  <dcterms:created xsi:type="dcterms:W3CDTF">2016-07-30T14:16:51Z</dcterms:created>
  <dcterms:modified xsi:type="dcterms:W3CDTF">2025-12-09T19:31:37Z</dcterms:modified>
</cp:coreProperties>
</file>